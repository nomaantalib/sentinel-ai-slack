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mbria Bold" charset="1" panose="02040803050406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3"/>
    </p:embeddedFont>
    <p:embeddedFont>
      <p:font typeface="Cambria Italics" charset="1" panose="020405030504060A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Open strong: 'Every minute of downtime costs companies thousands. We built Sentinel AI to make sure deployments never cause outages again.'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Emphasize: 'This is not a hypothetical problem. Amazon lost $34M in a 49-minute outage. Facebook's 6-hour outage cost $60M. All caused by bad deployments.'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Key line: 'Think of it as a doctor who reads your test reports before you get sick — not an ambulance that arrives after the crash.'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each step. Emphasize: 'The whole analysis happens in under 30 seconds — faster than a human could even find the right Jira board.'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your demo moment. Show the actual running app here. Narrate: 'This is a real Slack message. Sentinel replied in 22 seconds with full context.'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Highlight: 'We chose these tools because they're the same stack Fortune 500 companies use. This isn't a toy — it's production-ready.'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Stress: 'Phase 4 is non-negotiable. A working demo beats a perfect architecture every time. Always have mock data as a fallback.'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green column is your win. No competitor does all 5. That's your moat.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Judges love market size. Say: 'Every company that ships software is a potential customer. That's millions of teams worldwide.'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with: 'We didn't just build an AI chatbot. We built an AI teammate that protects deployments. Sentinel AI — because the best outage is the one that never happens.'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7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0" y="731520"/>
            <a:ext cx="3657600" cy="3657600"/>
            <a:chOff x="0" y="0"/>
            <a:chExt cx="4876800" cy="48768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572000"/>
            <a:ext cx="16459200" cy="2194560"/>
            <a:chOff x="0" y="0"/>
            <a:chExt cx="2194560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2935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9"/>
                </a:lnSpc>
              </a:pPr>
              <a:r>
                <a:rPr lang="en-US" sz="111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SENTINEL AI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6766560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i="true">
                  <a:solidFill>
                    <a:srgbClr val="00D4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AI-Powered Deployment Guardian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8046720"/>
            <a:ext cx="14630400" cy="914400"/>
            <a:chOff x="0" y="0"/>
            <a:chExt cx="195072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950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 failures before they happen. Ship with confidence.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00800" y="9144000"/>
            <a:ext cx="5486400" cy="731520"/>
            <a:chOff x="0" y="0"/>
            <a:chExt cx="73152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193280" y="0"/>
                  </a:lnTo>
                  <a:cubicBezTo>
                    <a:pt x="7260590" y="0"/>
                    <a:pt x="7315200" y="54610"/>
                    <a:pt x="7315200" y="121920"/>
                  </a:cubicBezTo>
                  <a:lnTo>
                    <a:pt x="7315200" y="853440"/>
                  </a:lnTo>
                  <a:cubicBezTo>
                    <a:pt x="7315200" y="920750"/>
                    <a:pt x="7260590" y="975360"/>
                    <a:pt x="7193280" y="975360"/>
                  </a:cubicBezTo>
                  <a:lnTo>
                    <a:pt x="121920" y="975360"/>
                  </a:lnTo>
                  <a:cubicBezTo>
                    <a:pt x="54610" y="975360"/>
                    <a:pt x="0" y="920750"/>
                    <a:pt x="0" y="853440"/>
                  </a:cubicBezTo>
                  <a:close/>
                </a:path>
              </a:pathLst>
            </a:custGeom>
            <a:solidFill>
              <a:srgbClr val="00D4FF">
                <a:alpha val="392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400800" y="9144000"/>
            <a:ext cx="5486400" cy="731520"/>
            <a:chOff x="0" y="0"/>
            <a:chExt cx="73152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315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D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🏆  Hackathon Presentation  2024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6304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Software Deployments Cause Outages — Daily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3200400"/>
            <a:ext cx="5303520" cy="4023360"/>
            <a:chOff x="0" y="0"/>
            <a:chExt cx="7071360" cy="536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713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70713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27520" y="0"/>
                  </a:lnTo>
                  <a:cubicBezTo>
                    <a:pt x="6962139" y="0"/>
                    <a:pt x="7071360" y="109220"/>
                    <a:pt x="7071360" y="243840"/>
                  </a:cubicBezTo>
                  <a:lnTo>
                    <a:pt x="7071360" y="5120640"/>
                  </a:lnTo>
                  <a:cubicBezTo>
                    <a:pt x="7071360" y="5255260"/>
                    <a:pt x="6962139" y="5364480"/>
                    <a:pt x="6827520" y="5364480"/>
                  </a:cubicBezTo>
                  <a:lnTo>
                    <a:pt x="243840" y="5364480"/>
                  </a:lnTo>
                  <a:cubicBezTo>
                    <a:pt x="109220" y="5364480"/>
                    <a:pt x="0" y="5255260"/>
                    <a:pt x="0" y="512064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3474720"/>
            <a:ext cx="5303520" cy="1645920"/>
            <a:chOff x="0" y="0"/>
            <a:chExt cx="707136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70713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FF3D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$5,600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1520" y="5120640"/>
            <a:ext cx="5303520" cy="1645920"/>
            <a:chOff x="0" y="0"/>
            <a:chExt cx="707136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0713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cost per minute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downtime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92240" y="3200400"/>
            <a:ext cx="5303520" cy="4023360"/>
            <a:chOff x="0" y="0"/>
            <a:chExt cx="7071360" cy="536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13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70713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27520" y="0"/>
                  </a:lnTo>
                  <a:cubicBezTo>
                    <a:pt x="6962139" y="0"/>
                    <a:pt x="7071360" y="109220"/>
                    <a:pt x="7071360" y="243840"/>
                  </a:cubicBezTo>
                  <a:lnTo>
                    <a:pt x="7071360" y="5120640"/>
                  </a:lnTo>
                  <a:cubicBezTo>
                    <a:pt x="7071360" y="5255260"/>
                    <a:pt x="6962139" y="5364480"/>
                    <a:pt x="6827520" y="5364480"/>
                  </a:cubicBezTo>
                  <a:lnTo>
                    <a:pt x="243840" y="5364480"/>
                  </a:lnTo>
                  <a:cubicBezTo>
                    <a:pt x="109220" y="5364480"/>
                    <a:pt x="0" y="5255260"/>
                    <a:pt x="0" y="512064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92240" y="3474720"/>
            <a:ext cx="5303520" cy="1645920"/>
            <a:chOff x="0" y="0"/>
            <a:chExt cx="7071360" cy="219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0713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FFD6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92240" y="5120640"/>
            <a:ext cx="5303520" cy="1645920"/>
            <a:chOff x="0" y="0"/>
            <a:chExt cx="7071360" cy="219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0713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outages caused by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 changes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52960" y="3200400"/>
            <a:ext cx="5303520" cy="4023360"/>
            <a:chOff x="0" y="0"/>
            <a:chExt cx="7071360" cy="536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713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70713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27520" y="0"/>
                  </a:lnTo>
                  <a:cubicBezTo>
                    <a:pt x="6962139" y="0"/>
                    <a:pt x="7071360" y="109220"/>
                    <a:pt x="7071360" y="243840"/>
                  </a:cubicBezTo>
                  <a:lnTo>
                    <a:pt x="7071360" y="5120640"/>
                  </a:lnTo>
                  <a:cubicBezTo>
                    <a:pt x="7071360" y="5255260"/>
                    <a:pt x="6962139" y="5364480"/>
                    <a:pt x="6827520" y="5364480"/>
                  </a:cubicBezTo>
                  <a:lnTo>
                    <a:pt x="243840" y="5364480"/>
                  </a:lnTo>
                  <a:cubicBezTo>
                    <a:pt x="109220" y="5364480"/>
                    <a:pt x="0" y="5255260"/>
                    <a:pt x="0" y="512064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252960" y="3474720"/>
            <a:ext cx="5303520" cy="1645920"/>
            <a:chOff x="0" y="0"/>
            <a:chExt cx="707136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0713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00D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4.2 hrs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52960" y="5120640"/>
            <a:ext cx="5303520" cy="1645920"/>
            <a:chOff x="0" y="0"/>
            <a:chExt cx="707136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0713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time to detect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production failure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7589520"/>
            <a:ext cx="512064" cy="512064"/>
            <a:chOff x="0" y="0"/>
            <a:chExt cx="682752" cy="682752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37360" y="7498080"/>
            <a:ext cx="15544800" cy="640080"/>
            <a:chOff x="0" y="0"/>
            <a:chExt cx="207264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2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0726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Teams find out about failures only after customers complain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8357616"/>
            <a:ext cx="512064" cy="512064"/>
            <a:chOff x="0" y="0"/>
            <a:chExt cx="682752" cy="682752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737360" y="8266176"/>
            <a:ext cx="15544800" cy="640080"/>
            <a:chOff x="0" y="0"/>
            <a:chExt cx="2072640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72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0726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Monitoring tools react — they don't predict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" y="9125712"/>
            <a:ext cx="512064" cy="512064"/>
            <a:chOff x="0" y="0"/>
            <a:chExt cx="682752" cy="682752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37360" y="9034272"/>
            <a:ext cx="15544800" cy="640080"/>
            <a:chOff x="0" y="0"/>
            <a:chExt cx="2072640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72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726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system connects code changes to historical incidents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99616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Sentinel AI — Your AI Deployment Guardian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3200400"/>
            <a:ext cx="16824960" cy="2194560"/>
            <a:chOff x="0" y="0"/>
            <a:chExt cx="22433280" cy="2926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433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2189439" y="0"/>
                  </a:lnTo>
                  <a:cubicBezTo>
                    <a:pt x="22324061" y="0"/>
                    <a:pt x="22433280" y="109220"/>
                    <a:pt x="22433280" y="243840"/>
                  </a:cubicBezTo>
                  <a:lnTo>
                    <a:pt x="22433280" y="2682240"/>
                  </a:lnTo>
                  <a:cubicBezTo>
                    <a:pt x="22433280" y="2816860"/>
                    <a:pt x="22324061" y="2926080"/>
                    <a:pt x="22189439" y="2926080"/>
                  </a:cubicBezTo>
                  <a:lnTo>
                    <a:pt x="243840" y="2926080"/>
                  </a:lnTo>
                  <a:cubicBezTo>
                    <a:pt x="109220" y="2926080"/>
                    <a:pt x="0" y="2816860"/>
                    <a:pt x="0" y="2682240"/>
                  </a:cubicBezTo>
                  <a:close/>
                </a:path>
              </a:pathLst>
            </a:custGeom>
            <a:solidFill>
              <a:srgbClr val="00D4FF">
                <a:alpha val="117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328416"/>
            <a:ext cx="16093440" cy="1828800"/>
            <a:chOff x="0" y="0"/>
            <a:chExt cx="21457920" cy="243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7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4579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🛡️  Before you deploy — Sentinel AI analyzes your code changes, checks infrastructure health, scans historical incidents, and gives you a Risk Score with specific fix recommendations.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5852160"/>
            <a:ext cx="3931920" cy="3840480"/>
            <a:chOff x="0" y="0"/>
            <a:chExt cx="5242560" cy="5120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425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2425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98720" y="0"/>
                  </a:lnTo>
                  <a:cubicBezTo>
                    <a:pt x="5133340" y="0"/>
                    <a:pt x="5242560" y="109220"/>
                    <a:pt x="5242560" y="243840"/>
                  </a:cubicBezTo>
                  <a:lnTo>
                    <a:pt x="5242560" y="4876800"/>
                  </a:lnTo>
                  <a:cubicBezTo>
                    <a:pt x="5242560" y="5011420"/>
                    <a:pt x="5133340" y="5120640"/>
                    <a:pt x="4998720" y="5120640"/>
                  </a:cubicBezTo>
                  <a:lnTo>
                    <a:pt x="243840" y="5120640"/>
                  </a:lnTo>
                  <a:cubicBezTo>
                    <a:pt x="109220" y="5120640"/>
                    <a:pt x="0" y="5011420"/>
                    <a:pt x="0" y="487680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066544" y="6035040"/>
            <a:ext cx="914400" cy="914400"/>
            <a:chOff x="0" y="0"/>
            <a:chExt cx="1219200" cy="12192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7095744"/>
            <a:ext cx="3931920" cy="731520"/>
            <a:chOff x="0" y="0"/>
            <a:chExt cx="52425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2425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D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Code Analysis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7827264"/>
            <a:ext cx="3931920" cy="1097280"/>
            <a:chOff x="0" y="0"/>
            <a:chExt cx="524256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2425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Scans diff for risky patterns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01184" y="5852160"/>
            <a:ext cx="3931920" cy="3840480"/>
            <a:chOff x="0" y="0"/>
            <a:chExt cx="5242560" cy="5120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425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2425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98720" y="0"/>
                  </a:lnTo>
                  <a:cubicBezTo>
                    <a:pt x="5133340" y="0"/>
                    <a:pt x="5242560" y="109220"/>
                    <a:pt x="5242560" y="243840"/>
                  </a:cubicBezTo>
                  <a:lnTo>
                    <a:pt x="5242560" y="4876800"/>
                  </a:lnTo>
                  <a:cubicBezTo>
                    <a:pt x="5242560" y="5011420"/>
                    <a:pt x="5133340" y="5120640"/>
                    <a:pt x="4998720" y="5120640"/>
                  </a:cubicBezTo>
                  <a:lnTo>
                    <a:pt x="243840" y="5120640"/>
                  </a:lnTo>
                  <a:cubicBezTo>
                    <a:pt x="109220" y="5120640"/>
                    <a:pt x="0" y="5011420"/>
                    <a:pt x="0" y="487680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9088" y="6035040"/>
            <a:ext cx="914400" cy="914400"/>
            <a:chOff x="0" y="0"/>
            <a:chExt cx="1219200" cy="12192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901184" y="7095744"/>
            <a:ext cx="3931920" cy="731520"/>
            <a:chOff x="0" y="0"/>
            <a:chExt cx="52425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2425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D6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Bug Correlation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901184" y="7827264"/>
            <a:ext cx="3931920" cy="1097280"/>
            <a:chOff x="0" y="0"/>
            <a:chExt cx="524256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2425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Links open issues to release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53728" y="5852160"/>
            <a:ext cx="3931920" cy="3840480"/>
            <a:chOff x="0" y="0"/>
            <a:chExt cx="5242560" cy="5120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425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2425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98720" y="0"/>
                  </a:lnTo>
                  <a:cubicBezTo>
                    <a:pt x="5133340" y="0"/>
                    <a:pt x="5242560" y="109220"/>
                    <a:pt x="5242560" y="243840"/>
                  </a:cubicBezTo>
                  <a:lnTo>
                    <a:pt x="5242560" y="4876800"/>
                  </a:lnTo>
                  <a:cubicBezTo>
                    <a:pt x="5242560" y="5011420"/>
                    <a:pt x="5133340" y="5120640"/>
                    <a:pt x="4998720" y="5120640"/>
                  </a:cubicBezTo>
                  <a:lnTo>
                    <a:pt x="243840" y="5120640"/>
                  </a:lnTo>
                  <a:cubicBezTo>
                    <a:pt x="109220" y="5120640"/>
                    <a:pt x="0" y="5011420"/>
                    <a:pt x="0" y="487680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771632" y="6035040"/>
            <a:ext cx="914400" cy="914400"/>
            <a:chOff x="0" y="0"/>
            <a:chExt cx="1219200" cy="12192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53728" y="7095744"/>
            <a:ext cx="3931920" cy="731520"/>
            <a:chOff x="0" y="0"/>
            <a:chExt cx="524256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2425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E67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Infra Health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53728" y="7827264"/>
            <a:ext cx="3931920" cy="1097280"/>
            <a:chOff x="0" y="0"/>
            <a:chExt cx="524256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2425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CPU, memory, latency check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06272" y="5852160"/>
            <a:ext cx="3931920" cy="3840480"/>
            <a:chOff x="0" y="0"/>
            <a:chExt cx="5242560" cy="5120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425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2425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98720" y="0"/>
                  </a:lnTo>
                  <a:cubicBezTo>
                    <a:pt x="5133340" y="0"/>
                    <a:pt x="5242560" y="109220"/>
                    <a:pt x="5242560" y="243840"/>
                  </a:cubicBezTo>
                  <a:lnTo>
                    <a:pt x="5242560" y="4876800"/>
                  </a:lnTo>
                  <a:cubicBezTo>
                    <a:pt x="5242560" y="5011420"/>
                    <a:pt x="5133340" y="5120640"/>
                    <a:pt x="4998720" y="5120640"/>
                  </a:cubicBezTo>
                  <a:lnTo>
                    <a:pt x="243840" y="5120640"/>
                  </a:lnTo>
                  <a:cubicBezTo>
                    <a:pt x="109220" y="5120640"/>
                    <a:pt x="0" y="5011420"/>
                    <a:pt x="0" y="487680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124176" y="6035040"/>
            <a:ext cx="914400" cy="914400"/>
            <a:chOff x="0" y="0"/>
            <a:chExt cx="1219200" cy="12192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606272" y="7095744"/>
            <a:ext cx="3931920" cy="731520"/>
            <a:chOff x="0" y="0"/>
            <a:chExt cx="524256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42560" cy="975360"/>
            </a:xfrm>
            <a:custGeom>
              <a:avLst/>
              <a:gdLst/>
              <a:ahLst/>
              <a:cxnLst/>
              <a:rect r="r" b="b" t="t" l="l"/>
              <a:pathLst>
                <a:path h="97536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2425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3D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Incident Memory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606272" y="7827264"/>
            <a:ext cx="3931920" cy="1097280"/>
            <a:chOff x="0" y="0"/>
            <a:chExt cx="524256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2425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Learns from past outages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99616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Multi-Agent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3108960"/>
            <a:ext cx="3145536" cy="6035040"/>
            <a:chOff x="0" y="0"/>
            <a:chExt cx="4194048" cy="8046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94048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9404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50208" y="0"/>
                  </a:lnTo>
                  <a:cubicBezTo>
                    <a:pt x="4084828" y="0"/>
                    <a:pt x="4194048" y="109220"/>
                    <a:pt x="4194048" y="243840"/>
                  </a:cubicBezTo>
                  <a:lnTo>
                    <a:pt x="4194048" y="7802880"/>
                  </a:lnTo>
                  <a:cubicBezTo>
                    <a:pt x="4194048" y="7937500"/>
                    <a:pt x="4084828" y="8046720"/>
                    <a:pt x="3950208" y="8046720"/>
                  </a:cubicBezTo>
                  <a:lnTo>
                    <a:pt x="243840" y="8046720"/>
                  </a:lnTo>
                  <a:cubicBezTo>
                    <a:pt x="109220" y="8046720"/>
                    <a:pt x="0" y="7937500"/>
                    <a:pt x="0" y="78028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64208" y="3255264"/>
            <a:ext cx="1097280" cy="1097280"/>
            <a:chOff x="0" y="0"/>
            <a:chExt cx="146304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64208" y="3255264"/>
            <a:ext cx="1097280" cy="1097280"/>
            <a:chOff x="0" y="0"/>
            <a:chExt cx="146304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A16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73936" y="4608576"/>
            <a:ext cx="877824" cy="877824"/>
            <a:chOff x="0" y="0"/>
            <a:chExt cx="1170432" cy="117043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5669280"/>
            <a:ext cx="3145536" cy="914400"/>
            <a:chOff x="0" y="0"/>
            <a:chExt cx="4194048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40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8" r="0" b="-170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194048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Slack Trigger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6547104"/>
            <a:ext cx="3145536" cy="1097280"/>
            <a:chOff x="0" y="0"/>
            <a:chExt cx="4194048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@Sentinel deploy?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85616" y="5394960"/>
            <a:ext cx="292608" cy="731520"/>
            <a:chOff x="0" y="0"/>
            <a:chExt cx="390144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144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901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78224" y="3108960"/>
            <a:ext cx="3145536" cy="6035040"/>
            <a:chOff x="0" y="0"/>
            <a:chExt cx="4194048" cy="8046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4048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9404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50208" y="0"/>
                  </a:lnTo>
                  <a:cubicBezTo>
                    <a:pt x="4084828" y="0"/>
                    <a:pt x="4194048" y="109220"/>
                    <a:pt x="4194048" y="243840"/>
                  </a:cubicBezTo>
                  <a:lnTo>
                    <a:pt x="4194048" y="7802880"/>
                  </a:lnTo>
                  <a:cubicBezTo>
                    <a:pt x="4194048" y="7937500"/>
                    <a:pt x="4084828" y="8046720"/>
                    <a:pt x="3950208" y="8046720"/>
                  </a:cubicBezTo>
                  <a:lnTo>
                    <a:pt x="243840" y="8046720"/>
                  </a:lnTo>
                  <a:cubicBezTo>
                    <a:pt x="109220" y="8046720"/>
                    <a:pt x="0" y="7937500"/>
                    <a:pt x="0" y="78028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02352" y="3255264"/>
            <a:ext cx="1097280" cy="1097280"/>
            <a:chOff x="0" y="0"/>
            <a:chExt cx="146304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102352" y="3255264"/>
            <a:ext cx="1097280" cy="1097280"/>
            <a:chOff x="0" y="0"/>
            <a:chExt cx="146304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A16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12080" y="4608576"/>
            <a:ext cx="877824" cy="877824"/>
            <a:chOff x="0" y="0"/>
            <a:chExt cx="1170432" cy="117043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078224" y="5669280"/>
            <a:ext cx="3145536" cy="914400"/>
            <a:chOff x="0" y="0"/>
            <a:chExt cx="4194048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940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8" r="0" b="-170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194048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Collection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78224" y="6547104"/>
            <a:ext cx="3145536" cy="1097280"/>
            <a:chOff x="0" y="0"/>
            <a:chExt cx="4194048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+ Jira + Infra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223760" y="5394960"/>
            <a:ext cx="292608" cy="731520"/>
            <a:chOff x="0" y="0"/>
            <a:chExt cx="390144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144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3901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16368" y="3108960"/>
            <a:ext cx="3145536" cy="6035040"/>
            <a:chOff x="0" y="0"/>
            <a:chExt cx="4194048" cy="8046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94048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9404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50208" y="0"/>
                  </a:lnTo>
                  <a:cubicBezTo>
                    <a:pt x="4084828" y="0"/>
                    <a:pt x="4194048" y="109220"/>
                    <a:pt x="4194048" y="243840"/>
                  </a:cubicBezTo>
                  <a:lnTo>
                    <a:pt x="4194048" y="7802880"/>
                  </a:lnTo>
                  <a:cubicBezTo>
                    <a:pt x="4194048" y="7937500"/>
                    <a:pt x="4084828" y="8046720"/>
                    <a:pt x="3950208" y="8046720"/>
                  </a:cubicBezTo>
                  <a:lnTo>
                    <a:pt x="243840" y="8046720"/>
                  </a:lnTo>
                  <a:cubicBezTo>
                    <a:pt x="109220" y="8046720"/>
                    <a:pt x="0" y="7937500"/>
                    <a:pt x="0" y="78028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40496" y="3255264"/>
            <a:ext cx="1097280" cy="1097280"/>
            <a:chOff x="0" y="0"/>
            <a:chExt cx="1463040" cy="1463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540496" y="3255264"/>
            <a:ext cx="1097280" cy="1097280"/>
            <a:chOff x="0" y="0"/>
            <a:chExt cx="1463040" cy="1463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A16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650224" y="4608576"/>
            <a:ext cx="877824" cy="877824"/>
            <a:chOff x="0" y="0"/>
            <a:chExt cx="1170432" cy="1170432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516368" y="5669280"/>
            <a:ext cx="3145536" cy="914400"/>
            <a:chOff x="0" y="0"/>
            <a:chExt cx="4194048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940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8" r="0" b="-1702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194048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Reasoning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16368" y="6547104"/>
            <a:ext cx="3145536" cy="1097280"/>
            <a:chOff x="0" y="0"/>
            <a:chExt cx="4194048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/ Gemini LLM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61904" y="5394960"/>
            <a:ext cx="292608" cy="731520"/>
            <a:chOff x="0" y="0"/>
            <a:chExt cx="390144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0144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3901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54512" y="3108960"/>
            <a:ext cx="3145536" cy="6035040"/>
            <a:chOff x="0" y="0"/>
            <a:chExt cx="4194048" cy="8046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194048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9404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50208" y="0"/>
                  </a:lnTo>
                  <a:cubicBezTo>
                    <a:pt x="4084828" y="0"/>
                    <a:pt x="4194048" y="109220"/>
                    <a:pt x="4194048" y="243840"/>
                  </a:cubicBezTo>
                  <a:lnTo>
                    <a:pt x="4194048" y="7802880"/>
                  </a:lnTo>
                  <a:cubicBezTo>
                    <a:pt x="4194048" y="7937500"/>
                    <a:pt x="4084828" y="8046720"/>
                    <a:pt x="3950208" y="8046720"/>
                  </a:cubicBezTo>
                  <a:lnTo>
                    <a:pt x="243840" y="8046720"/>
                  </a:lnTo>
                  <a:cubicBezTo>
                    <a:pt x="109220" y="8046720"/>
                    <a:pt x="0" y="7937500"/>
                    <a:pt x="0" y="78028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978640" y="3255264"/>
            <a:ext cx="1097280" cy="1097280"/>
            <a:chOff x="0" y="0"/>
            <a:chExt cx="1463040" cy="1463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F3D3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978640" y="3255264"/>
            <a:ext cx="1097280" cy="1097280"/>
            <a:chOff x="0" y="0"/>
            <a:chExt cx="1463040" cy="1463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A16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088368" y="4608576"/>
            <a:ext cx="877824" cy="877824"/>
            <a:chOff x="0" y="0"/>
            <a:chExt cx="1170432" cy="1170432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954512" y="5669280"/>
            <a:ext cx="3145536" cy="914400"/>
            <a:chOff x="0" y="0"/>
            <a:chExt cx="4194048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940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8" r="0" b="-1702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4194048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Risk Score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954512" y="6547104"/>
            <a:ext cx="3145536" cy="1097280"/>
            <a:chOff x="0" y="0"/>
            <a:chExt cx="4194048" cy="14630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0-100 with reasons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100048" y="5394960"/>
            <a:ext cx="292608" cy="731520"/>
            <a:chOff x="0" y="0"/>
            <a:chExt cx="390144" cy="975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0144" cy="975360"/>
            </a:xfrm>
            <a:custGeom>
              <a:avLst/>
              <a:gdLst/>
              <a:ahLst/>
              <a:cxnLst/>
              <a:rect r="r" b="b" t="t" l="l"/>
              <a:pathLst>
                <a:path h="975360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3901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392656" y="3108960"/>
            <a:ext cx="3145536" cy="6035040"/>
            <a:chOff x="0" y="0"/>
            <a:chExt cx="4194048" cy="80467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194048" cy="8046720"/>
            </a:xfrm>
            <a:custGeom>
              <a:avLst/>
              <a:gdLst/>
              <a:ahLst/>
              <a:cxnLst/>
              <a:rect r="r" b="b" t="t" l="l"/>
              <a:pathLst>
                <a:path h="8046720" w="419404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50208" y="0"/>
                  </a:lnTo>
                  <a:cubicBezTo>
                    <a:pt x="4084828" y="0"/>
                    <a:pt x="4194048" y="109220"/>
                    <a:pt x="4194048" y="243840"/>
                  </a:cubicBezTo>
                  <a:lnTo>
                    <a:pt x="4194048" y="7802880"/>
                  </a:lnTo>
                  <a:cubicBezTo>
                    <a:pt x="4194048" y="7937500"/>
                    <a:pt x="4084828" y="8046720"/>
                    <a:pt x="3950208" y="8046720"/>
                  </a:cubicBezTo>
                  <a:lnTo>
                    <a:pt x="243840" y="8046720"/>
                  </a:lnTo>
                  <a:cubicBezTo>
                    <a:pt x="109220" y="8046720"/>
                    <a:pt x="0" y="7937500"/>
                    <a:pt x="0" y="78028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416784" y="3255264"/>
            <a:ext cx="1097280" cy="1097280"/>
            <a:chOff x="0" y="0"/>
            <a:chExt cx="1463040" cy="14630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5416784" y="3255264"/>
            <a:ext cx="1097280" cy="1097280"/>
            <a:chOff x="0" y="0"/>
            <a:chExt cx="1463040" cy="14630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A16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526512" y="4608576"/>
            <a:ext cx="877824" cy="877824"/>
            <a:chOff x="0" y="0"/>
            <a:chExt cx="1170432" cy="1170432"/>
          </a:xfrm>
        </p:grpSpPr>
        <p:sp>
          <p:nvSpPr>
            <p:cNvPr name="Freeform 88" id="88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392656" y="5669280"/>
            <a:ext cx="3145536" cy="914400"/>
            <a:chOff x="0" y="0"/>
            <a:chExt cx="4194048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940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8" r="0" b="-1702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4194048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Recommendation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392656" y="6547104"/>
            <a:ext cx="3145536" cy="1097280"/>
            <a:chOff x="0" y="0"/>
            <a:chExt cx="4194048" cy="14630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1940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194048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 / No-go + fixes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400800" y="9326880"/>
            <a:ext cx="5486400" cy="640080"/>
            <a:chOff x="0" y="0"/>
            <a:chExt cx="731520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7193280" y="0"/>
                  </a:lnTo>
                  <a:cubicBezTo>
                    <a:pt x="7260590" y="0"/>
                    <a:pt x="7315200" y="54610"/>
                    <a:pt x="7315200" y="121920"/>
                  </a:cubicBezTo>
                  <a:lnTo>
                    <a:pt x="7315200" y="731520"/>
                  </a:lnTo>
                  <a:cubicBezTo>
                    <a:pt x="7315200" y="798830"/>
                    <a:pt x="7260590" y="853440"/>
                    <a:pt x="7193280" y="853440"/>
                  </a:cubicBezTo>
                  <a:lnTo>
                    <a:pt x="121920" y="853440"/>
                  </a:lnTo>
                  <a:cubicBezTo>
                    <a:pt x="54610" y="853440"/>
                    <a:pt x="0" y="798830"/>
                    <a:pt x="0" y="731520"/>
                  </a:cubicBezTo>
                  <a:close/>
                </a:path>
              </a:pathLst>
            </a:custGeom>
            <a:solidFill>
              <a:srgbClr val="00E676">
                <a:alpha val="3922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400800" y="9326880"/>
            <a:ext cx="5486400" cy="640080"/>
            <a:chOff x="0" y="0"/>
            <a:chExt cx="7315200" cy="8534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7315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E6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  Average response time: under 30 seconds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DEMO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99616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Real Conversation in Slack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3017520"/>
            <a:ext cx="16824960" cy="6858000"/>
            <a:chOff x="0" y="0"/>
            <a:chExt cx="22433280" cy="9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2243328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2140672" y="0"/>
                  </a:lnTo>
                  <a:cubicBezTo>
                    <a:pt x="22302215" y="0"/>
                    <a:pt x="22433280" y="131064"/>
                    <a:pt x="22433280" y="292608"/>
                  </a:cubicBezTo>
                  <a:lnTo>
                    <a:pt x="22433280" y="8851392"/>
                  </a:lnTo>
                  <a:cubicBezTo>
                    <a:pt x="22433280" y="9012936"/>
                    <a:pt x="22302215" y="9144000"/>
                    <a:pt x="22140672" y="9144000"/>
                  </a:cubicBezTo>
                  <a:lnTo>
                    <a:pt x="292608" y="9144000"/>
                  </a:lnTo>
                  <a:cubicBezTo>
                    <a:pt x="131064" y="9144000"/>
                    <a:pt x="0" y="9012936"/>
                    <a:pt x="0" y="8851392"/>
                  </a:cubicBezTo>
                  <a:close/>
                </a:path>
              </a:pathLst>
            </a:custGeom>
            <a:solidFill>
              <a:srgbClr val="1A1D2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3017520"/>
            <a:ext cx="16824960" cy="822960"/>
            <a:chOff x="0" y="0"/>
            <a:chExt cx="22433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2140672" y="0"/>
                  </a:lnTo>
                  <a:cubicBezTo>
                    <a:pt x="22302215" y="0"/>
                    <a:pt x="22433280" y="131064"/>
                    <a:pt x="22433280" y="292608"/>
                  </a:cubicBezTo>
                  <a:lnTo>
                    <a:pt x="22433280" y="804672"/>
                  </a:lnTo>
                  <a:cubicBezTo>
                    <a:pt x="22433280" y="966216"/>
                    <a:pt x="22302215" y="1097280"/>
                    <a:pt x="22140672" y="1097280"/>
                  </a:cubicBezTo>
                  <a:lnTo>
                    <a:pt x="292608" y="1097280"/>
                  </a:lnTo>
                  <a:cubicBezTo>
                    <a:pt x="131064" y="1097280"/>
                    <a:pt x="0" y="966216"/>
                    <a:pt x="0" y="804672"/>
                  </a:cubicBezTo>
                  <a:close/>
                </a:path>
              </a:pathLst>
            </a:custGeom>
            <a:solidFill>
              <a:srgbClr val="2C2F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3072384"/>
            <a:ext cx="16093440" cy="640080"/>
            <a:chOff x="0" y="0"/>
            <a:chExt cx="2145792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 deployment-channel   •   Sentinel AI Bot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4114800"/>
            <a:ext cx="640080" cy="640080"/>
            <a:chOff x="0" y="0"/>
            <a:chExt cx="85344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4114800"/>
            <a:ext cx="640080" cy="640080"/>
            <a:chOff x="0" y="0"/>
            <a:chExt cx="85344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534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11680" y="4059936"/>
            <a:ext cx="7315200" cy="512064"/>
            <a:chOff x="0" y="0"/>
            <a:chExt cx="97536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alex_devops  11:42 AM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11680" y="4535424"/>
            <a:ext cx="14264640" cy="640080"/>
            <a:chOff x="0" y="0"/>
            <a:chExt cx="1901952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195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237" r="0" b="-3842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90195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@Sentinel should we deploy version 5.2 now?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5486400"/>
            <a:ext cx="640080" cy="640080"/>
            <a:chOff x="0" y="0"/>
            <a:chExt cx="853440" cy="85344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11680" y="5431536"/>
            <a:ext cx="7315200" cy="512064"/>
            <a:chOff x="0" y="0"/>
            <a:chExt cx="975360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Sentinel AI  11:42 AM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11680" y="5943600"/>
            <a:ext cx="14813280" cy="3657600"/>
            <a:chOff x="0" y="0"/>
            <a:chExt cx="19751040" cy="4876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751039" cy="4876800"/>
            </a:xfrm>
            <a:custGeom>
              <a:avLst/>
              <a:gdLst/>
              <a:ahLst/>
              <a:cxnLst/>
              <a:rect r="r" b="b" t="t" l="l"/>
              <a:pathLst>
                <a:path h="4876800" w="19751039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9555968" y="0"/>
                  </a:lnTo>
                  <a:cubicBezTo>
                    <a:pt x="19663663" y="0"/>
                    <a:pt x="19751039" y="87376"/>
                    <a:pt x="19751039" y="195072"/>
                  </a:cubicBezTo>
                  <a:lnTo>
                    <a:pt x="19751039" y="4681728"/>
                  </a:lnTo>
                  <a:cubicBezTo>
                    <a:pt x="19751039" y="4789424"/>
                    <a:pt x="19663663" y="4876800"/>
                    <a:pt x="19555968" y="4876800"/>
                  </a:cubicBezTo>
                  <a:lnTo>
                    <a:pt x="195072" y="4876800"/>
                  </a:lnTo>
                  <a:cubicBezTo>
                    <a:pt x="87376" y="4876800"/>
                    <a:pt x="0" y="4789424"/>
                    <a:pt x="0" y="4681728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86000" y="6126480"/>
            <a:ext cx="14264640" cy="731520"/>
            <a:chOff x="0" y="0"/>
            <a:chExt cx="1901952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01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90195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3D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🚨  Risk Score: 75 / 100  —  HIGH RISK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286000" y="6986016"/>
            <a:ext cx="14264640" cy="548640"/>
            <a:chOff x="0" y="0"/>
            <a:chExt cx="19019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1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9019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Similar update caused memory spike &amp; outage 3 weeks ago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86000" y="7589520"/>
            <a:ext cx="14264640" cy="548640"/>
            <a:chOff x="0" y="0"/>
            <a:chExt cx="19019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01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9019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Server memory usage currently at 87% — critical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86000" y="8193024"/>
            <a:ext cx="14264640" cy="548640"/>
            <a:chOff x="0" y="0"/>
            <a:chExt cx="19019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01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9019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2 P1 bugs still unresolved in this version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86000" y="8814816"/>
            <a:ext cx="14264640" cy="548640"/>
            <a:chOff x="0" y="0"/>
            <a:chExt cx="190195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01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9019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Recommendation: Do NOT deploy. Fix memory leak &amp; resolve P1 bugs first.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99616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Built with Production-Grade Tools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3108960"/>
            <a:ext cx="4023360" cy="6400800"/>
            <a:chOff x="0" y="0"/>
            <a:chExt cx="5364480" cy="853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44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8290560"/>
                  </a:lnTo>
                  <a:cubicBezTo>
                    <a:pt x="5364480" y="8425180"/>
                    <a:pt x="5255260" y="8534400"/>
                    <a:pt x="5120640" y="8534400"/>
                  </a:cubicBezTo>
                  <a:lnTo>
                    <a:pt x="243840" y="8534400"/>
                  </a:lnTo>
                  <a:cubicBezTo>
                    <a:pt x="109220" y="8534400"/>
                    <a:pt x="0" y="8425180"/>
                    <a:pt x="0" y="829056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0080" y="3108960"/>
            <a:ext cx="4023360" cy="950976"/>
            <a:chOff x="0" y="0"/>
            <a:chExt cx="5364480" cy="12679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64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1024128"/>
                  </a:lnTo>
                  <a:cubicBezTo>
                    <a:pt x="5364480" y="1158748"/>
                    <a:pt x="5255260" y="1267968"/>
                    <a:pt x="5120640" y="1267968"/>
                  </a:cubicBezTo>
                  <a:lnTo>
                    <a:pt x="243840" y="1267968"/>
                  </a:lnTo>
                  <a:cubicBezTo>
                    <a:pt x="109220" y="1267968"/>
                    <a:pt x="0" y="1158748"/>
                    <a:pt x="0" y="1024128"/>
                  </a:cubicBezTo>
                  <a:close/>
                </a:path>
              </a:pathLst>
            </a:custGeom>
            <a:solidFill>
              <a:srgbClr val="00D4FF">
                <a:alpha val="588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0080" y="3108960"/>
            <a:ext cx="4023360" cy="950976"/>
            <a:chOff x="0" y="0"/>
            <a:chExt cx="5364480" cy="12679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64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364480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D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Interface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9536" y="4315968"/>
            <a:ext cx="3584448" cy="1188720"/>
            <a:chOff x="0" y="0"/>
            <a:chExt cx="4779264" cy="1584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9536" y="4315968"/>
            <a:ext cx="3584448" cy="1188720"/>
            <a:chOff x="0" y="0"/>
            <a:chExt cx="4779264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Slack Bot API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9536" y="5815584"/>
            <a:ext cx="3584448" cy="1188720"/>
            <a:chOff x="0" y="0"/>
            <a:chExt cx="4779264" cy="158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9536" y="5815584"/>
            <a:ext cx="3584448" cy="1188720"/>
            <a:chOff x="0" y="0"/>
            <a:chExt cx="4779264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Dashboard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9536" y="7315200"/>
            <a:ext cx="3584448" cy="1188720"/>
            <a:chOff x="0" y="0"/>
            <a:chExt cx="4779264" cy="1584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59536" y="7315200"/>
            <a:ext cx="3584448" cy="1188720"/>
            <a:chOff x="0" y="0"/>
            <a:chExt cx="4779264" cy="158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 Webhooks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992624" y="3108960"/>
            <a:ext cx="4023360" cy="6400800"/>
            <a:chOff x="0" y="0"/>
            <a:chExt cx="5364480" cy="853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8290560"/>
                  </a:lnTo>
                  <a:cubicBezTo>
                    <a:pt x="5364480" y="8425180"/>
                    <a:pt x="5255260" y="8534400"/>
                    <a:pt x="5120640" y="8534400"/>
                  </a:cubicBezTo>
                  <a:lnTo>
                    <a:pt x="243840" y="8534400"/>
                  </a:lnTo>
                  <a:cubicBezTo>
                    <a:pt x="109220" y="8534400"/>
                    <a:pt x="0" y="8425180"/>
                    <a:pt x="0" y="829056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92624" y="3108960"/>
            <a:ext cx="4023360" cy="950976"/>
            <a:chOff x="0" y="0"/>
            <a:chExt cx="5364480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1024128"/>
                  </a:lnTo>
                  <a:cubicBezTo>
                    <a:pt x="5364480" y="1158748"/>
                    <a:pt x="5255260" y="1267968"/>
                    <a:pt x="5120640" y="1267968"/>
                  </a:cubicBezTo>
                  <a:lnTo>
                    <a:pt x="243840" y="1267968"/>
                  </a:lnTo>
                  <a:cubicBezTo>
                    <a:pt x="109220" y="1267968"/>
                    <a:pt x="0" y="1158748"/>
                    <a:pt x="0" y="1024128"/>
                  </a:cubicBezTo>
                  <a:close/>
                </a:path>
              </a:pathLst>
            </a:custGeom>
            <a:solidFill>
              <a:srgbClr val="00E676">
                <a:alpha val="588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992624" y="3108960"/>
            <a:ext cx="4023360" cy="950976"/>
            <a:chOff x="0" y="0"/>
            <a:chExt cx="5364480" cy="12679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364480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E67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Core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212080" y="4315968"/>
            <a:ext cx="3584448" cy="1188720"/>
            <a:chOff x="0" y="0"/>
            <a:chExt cx="4779264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212080" y="4315968"/>
            <a:ext cx="3584448" cy="1188720"/>
            <a:chOff x="0" y="0"/>
            <a:chExt cx="4779264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/ Gemini LLM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212080" y="5815584"/>
            <a:ext cx="3584448" cy="1188720"/>
            <a:chOff x="0" y="0"/>
            <a:chExt cx="4779264" cy="1584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212080" y="5815584"/>
            <a:ext cx="3584448" cy="1188720"/>
            <a:chOff x="0" y="0"/>
            <a:chExt cx="4779264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LangChain Agents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212080" y="7315200"/>
            <a:ext cx="3584448" cy="1188720"/>
            <a:chOff x="0" y="0"/>
            <a:chExt cx="4779264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212080" y="7315200"/>
            <a:ext cx="3584448" cy="1188720"/>
            <a:chOff x="0" y="0"/>
            <a:chExt cx="4779264" cy="1584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 Pipeline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45168" y="3108960"/>
            <a:ext cx="4023360" cy="6400800"/>
            <a:chOff x="0" y="0"/>
            <a:chExt cx="5364480" cy="853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8290560"/>
                  </a:lnTo>
                  <a:cubicBezTo>
                    <a:pt x="5364480" y="8425180"/>
                    <a:pt x="5255260" y="8534400"/>
                    <a:pt x="5120640" y="8534400"/>
                  </a:cubicBezTo>
                  <a:lnTo>
                    <a:pt x="243840" y="8534400"/>
                  </a:lnTo>
                  <a:cubicBezTo>
                    <a:pt x="109220" y="8534400"/>
                    <a:pt x="0" y="8425180"/>
                    <a:pt x="0" y="829056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345168" y="3108960"/>
            <a:ext cx="4023360" cy="950976"/>
            <a:chOff x="0" y="0"/>
            <a:chExt cx="5364480" cy="12679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1024128"/>
                  </a:lnTo>
                  <a:cubicBezTo>
                    <a:pt x="5364480" y="1158748"/>
                    <a:pt x="5255260" y="1267968"/>
                    <a:pt x="5120640" y="1267968"/>
                  </a:cubicBezTo>
                  <a:lnTo>
                    <a:pt x="243840" y="1267968"/>
                  </a:lnTo>
                  <a:cubicBezTo>
                    <a:pt x="109220" y="1267968"/>
                    <a:pt x="0" y="1158748"/>
                    <a:pt x="0" y="1024128"/>
                  </a:cubicBezTo>
                  <a:close/>
                </a:path>
              </a:pathLst>
            </a:custGeom>
            <a:solidFill>
              <a:srgbClr val="FFD600">
                <a:alpha val="5882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45168" y="3108960"/>
            <a:ext cx="4023360" cy="950976"/>
            <a:chOff x="0" y="0"/>
            <a:chExt cx="5364480" cy="12679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64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5364480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D6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Sources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64624" y="4315968"/>
            <a:ext cx="3584448" cy="1188720"/>
            <a:chOff x="0" y="0"/>
            <a:chExt cx="4779264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564624" y="4315968"/>
            <a:ext cx="3584448" cy="1188720"/>
            <a:chOff x="0" y="0"/>
            <a:chExt cx="4779264" cy="15849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API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64624" y="5815584"/>
            <a:ext cx="3584448" cy="1188720"/>
            <a:chOff x="0" y="0"/>
            <a:chExt cx="4779264" cy="1584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64624" y="5815584"/>
            <a:ext cx="3584448" cy="1188720"/>
            <a:chOff x="0" y="0"/>
            <a:chExt cx="4779264" cy="1584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Jira API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64624" y="7315200"/>
            <a:ext cx="3584448" cy="1188720"/>
            <a:chOff x="0" y="0"/>
            <a:chExt cx="4779264" cy="15849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564624" y="7315200"/>
            <a:ext cx="3584448" cy="1188720"/>
            <a:chOff x="0" y="0"/>
            <a:chExt cx="4779264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Prometheus / Grafana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697712" y="3108960"/>
            <a:ext cx="4023360" cy="6400800"/>
            <a:chOff x="0" y="0"/>
            <a:chExt cx="5364480" cy="853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644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8290560"/>
                  </a:lnTo>
                  <a:cubicBezTo>
                    <a:pt x="5364480" y="8425180"/>
                    <a:pt x="5255260" y="8534400"/>
                    <a:pt x="5120640" y="8534400"/>
                  </a:cubicBezTo>
                  <a:lnTo>
                    <a:pt x="243840" y="8534400"/>
                  </a:lnTo>
                  <a:cubicBezTo>
                    <a:pt x="109220" y="8534400"/>
                    <a:pt x="0" y="8425180"/>
                    <a:pt x="0" y="829056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697712" y="3108960"/>
            <a:ext cx="4023360" cy="950976"/>
            <a:chOff x="0" y="0"/>
            <a:chExt cx="5364480" cy="126796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64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1024128"/>
                  </a:lnTo>
                  <a:cubicBezTo>
                    <a:pt x="5364480" y="1158748"/>
                    <a:pt x="5255260" y="1267968"/>
                    <a:pt x="5120640" y="1267968"/>
                  </a:cubicBezTo>
                  <a:lnTo>
                    <a:pt x="243840" y="1267968"/>
                  </a:lnTo>
                  <a:cubicBezTo>
                    <a:pt x="109220" y="1267968"/>
                    <a:pt x="0" y="1158748"/>
                    <a:pt x="0" y="1024128"/>
                  </a:cubicBezTo>
                  <a:close/>
                </a:path>
              </a:pathLst>
            </a:custGeom>
            <a:solidFill>
              <a:srgbClr val="FF9800">
                <a:alpha val="5882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697712" y="3108960"/>
            <a:ext cx="4023360" cy="950976"/>
            <a:chOff x="0" y="0"/>
            <a:chExt cx="5364480" cy="12679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64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5364480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98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Backend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917168" y="4315968"/>
            <a:ext cx="3584448" cy="1188720"/>
            <a:chOff x="0" y="0"/>
            <a:chExt cx="4779264" cy="15849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917168" y="4315968"/>
            <a:ext cx="3584448" cy="1188720"/>
            <a:chOff x="0" y="0"/>
            <a:chExt cx="4779264" cy="15849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 + Express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917168" y="5815584"/>
            <a:ext cx="3584448" cy="1188720"/>
            <a:chOff x="0" y="0"/>
            <a:chExt cx="4779264" cy="15849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917168" y="5815584"/>
            <a:ext cx="3584448" cy="1188720"/>
            <a:chOff x="0" y="0"/>
            <a:chExt cx="4779264" cy="15849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FastAPI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917168" y="7315200"/>
            <a:ext cx="3584448" cy="1188720"/>
            <a:chOff x="0" y="0"/>
            <a:chExt cx="4779264" cy="15849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4608576" y="0"/>
                  </a:lnTo>
                  <a:cubicBezTo>
                    <a:pt x="4702810" y="0"/>
                    <a:pt x="4779264" y="76454"/>
                    <a:pt x="4779264" y="170688"/>
                  </a:cubicBezTo>
                  <a:lnTo>
                    <a:pt x="4779264" y="1414272"/>
                  </a:lnTo>
                  <a:cubicBezTo>
                    <a:pt x="4779264" y="1508506"/>
                    <a:pt x="4702810" y="1584960"/>
                    <a:pt x="4608576" y="1584960"/>
                  </a:cubicBezTo>
                  <a:lnTo>
                    <a:pt x="170688" y="1584960"/>
                  </a:lnTo>
                  <a:cubicBezTo>
                    <a:pt x="76454" y="1584960"/>
                    <a:pt x="0" y="1508506"/>
                    <a:pt x="0" y="1414272"/>
                  </a:cubicBez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917168" y="7315200"/>
            <a:ext cx="3584448" cy="1188720"/>
            <a:chOff x="0" y="0"/>
            <a:chExt cx="4779264" cy="15849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ChromaDB (Vector)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00D4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PLAN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-1667198"/>
            <a:ext cx="16770096" cy="7861449"/>
            <a:chOff x="0" y="0"/>
            <a:chExt cx="13352835" cy="62595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2835" cy="6259512"/>
            </a:xfrm>
            <a:custGeom>
              <a:avLst/>
              <a:gdLst/>
              <a:ahLst/>
              <a:cxnLst/>
              <a:rect r="r" b="b" t="t" l="l"/>
              <a:pathLst>
                <a:path h="6259512" w="13352835">
                  <a:moveTo>
                    <a:pt x="0" y="0"/>
                  </a:moveTo>
                  <a:lnTo>
                    <a:pt x="13352835" y="0"/>
                  </a:lnTo>
                  <a:lnTo>
                    <a:pt x="13352835" y="6259512"/>
                  </a:lnTo>
                  <a:lnTo>
                    <a:pt x="0" y="6259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79" r="-64351" b="180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3352835" cy="6269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Execution Roadmap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3108960"/>
            <a:ext cx="3986784" cy="6492240"/>
            <a:chOff x="0" y="0"/>
            <a:chExt cx="5315712" cy="8656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5712" cy="8656320"/>
            </a:xfrm>
            <a:custGeom>
              <a:avLst/>
              <a:gdLst/>
              <a:ahLst/>
              <a:cxnLst/>
              <a:rect r="r" b="b" t="t" l="l"/>
              <a:pathLst>
                <a:path h="8656320" w="53157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071872" y="0"/>
                  </a:lnTo>
                  <a:cubicBezTo>
                    <a:pt x="5206492" y="0"/>
                    <a:pt x="5315712" y="109220"/>
                    <a:pt x="5315712" y="243840"/>
                  </a:cubicBezTo>
                  <a:lnTo>
                    <a:pt x="5315712" y="8412480"/>
                  </a:lnTo>
                  <a:cubicBezTo>
                    <a:pt x="5315712" y="8547100"/>
                    <a:pt x="5206492" y="8656320"/>
                    <a:pt x="5071872" y="8656320"/>
                  </a:cubicBezTo>
                  <a:lnTo>
                    <a:pt x="243840" y="8656320"/>
                  </a:lnTo>
                  <a:cubicBezTo>
                    <a:pt x="109220" y="8656320"/>
                    <a:pt x="0" y="8547100"/>
                    <a:pt x="0" y="84124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0080" y="3108960"/>
            <a:ext cx="3986784" cy="950976"/>
            <a:chOff x="0" y="0"/>
            <a:chExt cx="5315712" cy="12679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071872" y="0"/>
                  </a:lnTo>
                  <a:cubicBezTo>
                    <a:pt x="5206492" y="0"/>
                    <a:pt x="5315712" y="109220"/>
                    <a:pt x="5315712" y="243840"/>
                  </a:cubicBezTo>
                  <a:lnTo>
                    <a:pt x="5315712" y="1024128"/>
                  </a:lnTo>
                  <a:cubicBezTo>
                    <a:pt x="5315712" y="1158748"/>
                    <a:pt x="5206492" y="1267968"/>
                    <a:pt x="5071872" y="1267968"/>
                  </a:cubicBezTo>
                  <a:lnTo>
                    <a:pt x="243840" y="1267968"/>
                  </a:lnTo>
                  <a:cubicBezTo>
                    <a:pt x="109220" y="1267968"/>
                    <a:pt x="0" y="1158748"/>
                    <a:pt x="0" y="1024128"/>
                  </a:cubicBezTo>
                  <a:close/>
                </a:path>
              </a:pathLst>
            </a:custGeom>
            <a:solidFill>
              <a:srgbClr val="00D4FF">
                <a:alpha val="588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0080" y="3108960"/>
            <a:ext cx="3986784" cy="950976"/>
            <a:chOff x="0" y="0"/>
            <a:chExt cx="5315712" cy="12679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87" r="0" b="-3168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315712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D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Phase 1 · Hours 0–4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" y="4169664"/>
            <a:ext cx="3986784" cy="768096"/>
            <a:chOff x="0" y="0"/>
            <a:chExt cx="5315712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157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136" r="0" b="-5113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315712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Foundation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5029200"/>
            <a:ext cx="3657600" cy="768096"/>
            <a:chOff x="0" y="0"/>
            <a:chExt cx="4876800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Setup Node.js backend + Express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5907024"/>
            <a:ext cx="3657600" cy="768096"/>
            <a:chOff x="0" y="0"/>
            <a:chExt cx="4876800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Slack Bot OAuth integration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6784848"/>
            <a:ext cx="3657600" cy="768096"/>
            <a:chOff x="0" y="0"/>
            <a:chExt cx="487680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GitHub API connector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8924544"/>
            <a:ext cx="3621024" cy="512064"/>
            <a:chOff x="0" y="0"/>
            <a:chExt cx="4828032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28032" cy="682752"/>
            </a:xfrm>
            <a:custGeom>
              <a:avLst/>
              <a:gdLst/>
              <a:ahLst/>
              <a:cxnLst/>
              <a:rect r="r" b="b" t="t" l="l"/>
              <a:pathLst>
                <a:path h="682752" w="48280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706112" y="0"/>
                  </a:lnTo>
                  <a:cubicBezTo>
                    <a:pt x="4773422" y="0"/>
                    <a:pt x="4828032" y="54610"/>
                    <a:pt x="4828032" y="121920"/>
                  </a:cubicBezTo>
                  <a:lnTo>
                    <a:pt x="4828032" y="560832"/>
                  </a:lnTo>
                  <a:cubicBezTo>
                    <a:pt x="4828032" y="628142"/>
                    <a:pt x="4773422" y="682752"/>
                    <a:pt x="4706112" y="682752"/>
                  </a:cubicBezTo>
                  <a:lnTo>
                    <a:pt x="121920" y="682752"/>
                  </a:lnTo>
                  <a:cubicBezTo>
                    <a:pt x="54610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00D4FF">
                <a:alpha val="3922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924544"/>
            <a:ext cx="3621024" cy="512064"/>
            <a:chOff x="0" y="0"/>
            <a:chExt cx="4828032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28032" cy="682752"/>
            </a:xfrm>
            <a:custGeom>
              <a:avLst/>
              <a:gdLst/>
              <a:ahLst/>
              <a:cxnLst/>
              <a:rect r="r" b="b" t="t" l="l"/>
              <a:pathLst>
                <a:path h="68275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87" r="0" b="-877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280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D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🔵 Start Here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2624" y="3108960"/>
            <a:ext cx="3986784" cy="6492240"/>
            <a:chOff x="0" y="0"/>
            <a:chExt cx="5315712" cy="8656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15712" cy="8656320"/>
            </a:xfrm>
            <a:custGeom>
              <a:avLst/>
              <a:gdLst/>
              <a:ahLst/>
              <a:cxnLst/>
              <a:rect r="r" b="b" t="t" l="l"/>
              <a:pathLst>
                <a:path h="8656320" w="53157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071872" y="0"/>
                  </a:lnTo>
                  <a:cubicBezTo>
                    <a:pt x="5206492" y="0"/>
                    <a:pt x="5315712" y="109220"/>
                    <a:pt x="5315712" y="243840"/>
                  </a:cubicBezTo>
                  <a:lnTo>
                    <a:pt x="5315712" y="8412480"/>
                  </a:lnTo>
                  <a:cubicBezTo>
                    <a:pt x="5315712" y="8547100"/>
                    <a:pt x="5206492" y="8656320"/>
                    <a:pt x="5071872" y="8656320"/>
                  </a:cubicBezTo>
                  <a:lnTo>
                    <a:pt x="243840" y="8656320"/>
                  </a:lnTo>
                  <a:cubicBezTo>
                    <a:pt x="109220" y="8656320"/>
                    <a:pt x="0" y="8547100"/>
                    <a:pt x="0" y="84124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992624" y="3108960"/>
            <a:ext cx="3986784" cy="950976"/>
            <a:chOff x="0" y="0"/>
            <a:chExt cx="5315712" cy="12679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071872" y="0"/>
                  </a:lnTo>
                  <a:cubicBezTo>
                    <a:pt x="5206492" y="0"/>
                    <a:pt x="5315712" y="109220"/>
                    <a:pt x="5315712" y="243840"/>
                  </a:cubicBezTo>
                  <a:lnTo>
                    <a:pt x="5315712" y="1024128"/>
                  </a:lnTo>
                  <a:cubicBezTo>
                    <a:pt x="5315712" y="1158748"/>
                    <a:pt x="5206492" y="1267968"/>
                    <a:pt x="5071872" y="1267968"/>
                  </a:cubicBezTo>
                  <a:lnTo>
                    <a:pt x="243840" y="1267968"/>
                  </a:lnTo>
                  <a:cubicBezTo>
                    <a:pt x="109220" y="1267968"/>
                    <a:pt x="0" y="1158748"/>
                    <a:pt x="0" y="1024128"/>
                  </a:cubicBezTo>
                  <a:close/>
                </a:path>
              </a:pathLst>
            </a:custGeom>
            <a:solidFill>
              <a:srgbClr val="FFD600">
                <a:alpha val="5882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992624" y="3108960"/>
            <a:ext cx="3986784" cy="950976"/>
            <a:chOff x="0" y="0"/>
            <a:chExt cx="5315712" cy="12679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87" r="0" b="-3168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315712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D6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Phase 2 · Hours 4–10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992624" y="4169664"/>
            <a:ext cx="3986784" cy="768096"/>
            <a:chOff x="0" y="0"/>
            <a:chExt cx="5315712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157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136" r="0" b="-5113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315712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Brain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175504" y="5029200"/>
            <a:ext cx="3657600" cy="768096"/>
            <a:chOff x="0" y="0"/>
            <a:chExt cx="4876800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LLM integration (Gemini/Claude)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175504" y="5907024"/>
            <a:ext cx="3657600" cy="768096"/>
            <a:chOff x="0" y="0"/>
            <a:chExt cx="4876800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Risk scoring prompt engineering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175504" y="6784848"/>
            <a:ext cx="3657600" cy="768096"/>
            <a:chOff x="0" y="0"/>
            <a:chExt cx="4876800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Jira + infra mock data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175504" y="8924544"/>
            <a:ext cx="3621024" cy="512064"/>
            <a:chOff x="0" y="0"/>
            <a:chExt cx="4828032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28032" cy="682752"/>
            </a:xfrm>
            <a:custGeom>
              <a:avLst/>
              <a:gdLst/>
              <a:ahLst/>
              <a:cxnLst/>
              <a:rect r="r" b="b" t="t" l="l"/>
              <a:pathLst>
                <a:path h="682752" w="48280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706112" y="0"/>
                  </a:lnTo>
                  <a:cubicBezTo>
                    <a:pt x="4773422" y="0"/>
                    <a:pt x="4828032" y="54610"/>
                    <a:pt x="4828032" y="121920"/>
                  </a:cubicBezTo>
                  <a:lnTo>
                    <a:pt x="4828032" y="560832"/>
                  </a:lnTo>
                  <a:cubicBezTo>
                    <a:pt x="4828032" y="628142"/>
                    <a:pt x="4773422" y="682752"/>
                    <a:pt x="4706112" y="682752"/>
                  </a:cubicBezTo>
                  <a:lnTo>
                    <a:pt x="121920" y="682752"/>
                  </a:lnTo>
                  <a:cubicBezTo>
                    <a:pt x="54610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FD600">
                <a:alpha val="3922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175504" y="8924544"/>
            <a:ext cx="3621024" cy="512064"/>
            <a:chOff x="0" y="0"/>
            <a:chExt cx="4828032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28032" cy="682752"/>
            </a:xfrm>
            <a:custGeom>
              <a:avLst/>
              <a:gdLst/>
              <a:ahLst/>
              <a:cxnLst/>
              <a:rect r="r" b="b" t="t" l="l"/>
              <a:pathLst>
                <a:path h="68275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87" r="0" b="-8778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8280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D6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 Core Feature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45168" y="3108960"/>
            <a:ext cx="3986784" cy="6492240"/>
            <a:chOff x="0" y="0"/>
            <a:chExt cx="5315712" cy="86563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15712" cy="8656320"/>
            </a:xfrm>
            <a:custGeom>
              <a:avLst/>
              <a:gdLst/>
              <a:ahLst/>
              <a:cxnLst/>
              <a:rect r="r" b="b" t="t" l="l"/>
              <a:pathLst>
                <a:path h="8656320" w="53157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071872" y="0"/>
                  </a:lnTo>
                  <a:cubicBezTo>
                    <a:pt x="5206492" y="0"/>
                    <a:pt x="5315712" y="109220"/>
                    <a:pt x="5315712" y="243840"/>
                  </a:cubicBezTo>
                  <a:lnTo>
                    <a:pt x="5315712" y="8412480"/>
                  </a:lnTo>
                  <a:cubicBezTo>
                    <a:pt x="5315712" y="8547100"/>
                    <a:pt x="5206492" y="8656320"/>
                    <a:pt x="5071872" y="8656320"/>
                  </a:cubicBezTo>
                  <a:lnTo>
                    <a:pt x="243840" y="8656320"/>
                  </a:lnTo>
                  <a:cubicBezTo>
                    <a:pt x="109220" y="8656320"/>
                    <a:pt x="0" y="8547100"/>
                    <a:pt x="0" y="84124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45168" y="3108960"/>
            <a:ext cx="3986784" cy="950976"/>
            <a:chOff x="0" y="0"/>
            <a:chExt cx="5315712" cy="12679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071872" y="0"/>
                  </a:lnTo>
                  <a:cubicBezTo>
                    <a:pt x="5206492" y="0"/>
                    <a:pt x="5315712" y="109220"/>
                    <a:pt x="5315712" y="243840"/>
                  </a:cubicBezTo>
                  <a:lnTo>
                    <a:pt x="5315712" y="1024128"/>
                  </a:lnTo>
                  <a:cubicBezTo>
                    <a:pt x="5315712" y="1158748"/>
                    <a:pt x="5206492" y="1267968"/>
                    <a:pt x="5071872" y="1267968"/>
                  </a:cubicBezTo>
                  <a:lnTo>
                    <a:pt x="243840" y="1267968"/>
                  </a:lnTo>
                  <a:cubicBezTo>
                    <a:pt x="109220" y="1267968"/>
                    <a:pt x="0" y="1158748"/>
                    <a:pt x="0" y="1024128"/>
                  </a:cubicBezTo>
                  <a:close/>
                </a:path>
              </a:pathLst>
            </a:custGeom>
            <a:solidFill>
              <a:srgbClr val="00E676">
                <a:alpha val="5882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345168" y="3108960"/>
            <a:ext cx="3986784" cy="950976"/>
            <a:chOff x="0" y="0"/>
            <a:chExt cx="5315712" cy="12679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87" r="0" b="-3168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315712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E67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Phase 3 · Hours 10–16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45168" y="4169664"/>
            <a:ext cx="3986784" cy="768096"/>
            <a:chOff x="0" y="0"/>
            <a:chExt cx="5315712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157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136" r="0" b="-5113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315712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Intelligence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528048" y="5029200"/>
            <a:ext cx="3657600" cy="768096"/>
            <a:chOff x="0" y="0"/>
            <a:chExt cx="487680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ChromaDB vector store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28048" y="5907024"/>
            <a:ext cx="3657600" cy="768096"/>
            <a:chOff x="0" y="0"/>
            <a:chExt cx="4876800" cy="10241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Historical incident RAG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528048" y="6784848"/>
            <a:ext cx="3657600" cy="768096"/>
            <a:chOff x="0" y="0"/>
            <a:chExt cx="4876800" cy="10241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Multi-agent orchestration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528048" y="8924544"/>
            <a:ext cx="3621024" cy="512064"/>
            <a:chOff x="0" y="0"/>
            <a:chExt cx="4828032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28032" cy="682752"/>
            </a:xfrm>
            <a:custGeom>
              <a:avLst/>
              <a:gdLst/>
              <a:ahLst/>
              <a:cxnLst/>
              <a:rect r="r" b="b" t="t" l="l"/>
              <a:pathLst>
                <a:path h="682752" w="48280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706112" y="0"/>
                  </a:lnTo>
                  <a:cubicBezTo>
                    <a:pt x="4773422" y="0"/>
                    <a:pt x="4828032" y="54610"/>
                    <a:pt x="4828032" y="121920"/>
                  </a:cubicBezTo>
                  <a:lnTo>
                    <a:pt x="4828032" y="560832"/>
                  </a:lnTo>
                  <a:cubicBezTo>
                    <a:pt x="4828032" y="628142"/>
                    <a:pt x="4773422" y="682752"/>
                    <a:pt x="4706112" y="682752"/>
                  </a:cubicBezTo>
                  <a:lnTo>
                    <a:pt x="121920" y="682752"/>
                  </a:lnTo>
                  <a:cubicBezTo>
                    <a:pt x="54610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00E676">
                <a:alpha val="3922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28048" y="8924544"/>
            <a:ext cx="3621024" cy="512064"/>
            <a:chOff x="0" y="0"/>
            <a:chExt cx="482803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28032" cy="682752"/>
            </a:xfrm>
            <a:custGeom>
              <a:avLst/>
              <a:gdLst/>
              <a:ahLst/>
              <a:cxnLst/>
              <a:rect r="r" b="b" t="t" l="l"/>
              <a:pathLst>
                <a:path h="68275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87" r="0" b="-8778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8280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E6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 Differentiator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697712" y="3108960"/>
            <a:ext cx="3986784" cy="6492240"/>
            <a:chOff x="0" y="0"/>
            <a:chExt cx="5315712" cy="8656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15712" cy="8656320"/>
            </a:xfrm>
            <a:custGeom>
              <a:avLst/>
              <a:gdLst/>
              <a:ahLst/>
              <a:cxnLst/>
              <a:rect r="r" b="b" t="t" l="l"/>
              <a:pathLst>
                <a:path h="8656320" w="53157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071872" y="0"/>
                  </a:lnTo>
                  <a:cubicBezTo>
                    <a:pt x="5206492" y="0"/>
                    <a:pt x="5315712" y="109220"/>
                    <a:pt x="5315712" y="243840"/>
                  </a:cubicBezTo>
                  <a:lnTo>
                    <a:pt x="5315712" y="8412480"/>
                  </a:lnTo>
                  <a:cubicBezTo>
                    <a:pt x="5315712" y="8547100"/>
                    <a:pt x="5206492" y="8656320"/>
                    <a:pt x="5071872" y="8656320"/>
                  </a:cubicBezTo>
                  <a:lnTo>
                    <a:pt x="243840" y="8656320"/>
                  </a:lnTo>
                  <a:cubicBezTo>
                    <a:pt x="109220" y="8656320"/>
                    <a:pt x="0" y="8547100"/>
                    <a:pt x="0" y="841248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697712" y="3108960"/>
            <a:ext cx="3986784" cy="950976"/>
            <a:chOff x="0" y="0"/>
            <a:chExt cx="5315712" cy="12679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071872" y="0"/>
                  </a:lnTo>
                  <a:cubicBezTo>
                    <a:pt x="5206492" y="0"/>
                    <a:pt x="5315712" y="109220"/>
                    <a:pt x="5315712" y="243840"/>
                  </a:cubicBezTo>
                  <a:lnTo>
                    <a:pt x="5315712" y="1024128"/>
                  </a:lnTo>
                  <a:cubicBezTo>
                    <a:pt x="5315712" y="1158748"/>
                    <a:pt x="5206492" y="1267968"/>
                    <a:pt x="5071872" y="1267968"/>
                  </a:cubicBezTo>
                  <a:lnTo>
                    <a:pt x="243840" y="1267968"/>
                  </a:lnTo>
                  <a:cubicBezTo>
                    <a:pt x="109220" y="1267968"/>
                    <a:pt x="0" y="1158748"/>
                    <a:pt x="0" y="1024128"/>
                  </a:cubicBezTo>
                  <a:close/>
                </a:path>
              </a:pathLst>
            </a:custGeom>
            <a:solidFill>
              <a:srgbClr val="FF9800">
                <a:alpha val="5882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697712" y="3108960"/>
            <a:ext cx="3986784" cy="950976"/>
            <a:chOff x="0" y="0"/>
            <a:chExt cx="5315712" cy="12679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1571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87" r="0" b="-3168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5315712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98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Phase 4 · Hours 16–24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697712" y="4169664"/>
            <a:ext cx="3986784" cy="768096"/>
            <a:chOff x="0" y="0"/>
            <a:chExt cx="5315712" cy="102412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157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136" r="0" b="-5113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5315712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Polish + Demo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880592" y="5029200"/>
            <a:ext cx="3657600" cy="768096"/>
            <a:chOff x="0" y="0"/>
            <a:chExt cx="4876800" cy="102412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React dashboard UI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880592" y="5907024"/>
            <a:ext cx="3657600" cy="768096"/>
            <a:chOff x="0" y="0"/>
            <a:chExt cx="4876800" cy="102412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Demo script rehearsal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880592" y="6784848"/>
            <a:ext cx="3657600" cy="768096"/>
            <a:chOff x="0" y="0"/>
            <a:chExt cx="4876800" cy="102412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876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4876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Fallback mock data ready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880592" y="8924544"/>
            <a:ext cx="3621024" cy="512064"/>
            <a:chOff x="0" y="0"/>
            <a:chExt cx="4828032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828032" cy="682752"/>
            </a:xfrm>
            <a:custGeom>
              <a:avLst/>
              <a:gdLst/>
              <a:ahLst/>
              <a:cxnLst/>
              <a:rect r="r" b="b" t="t" l="l"/>
              <a:pathLst>
                <a:path h="682752" w="482803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706112" y="0"/>
                  </a:lnTo>
                  <a:cubicBezTo>
                    <a:pt x="4773422" y="0"/>
                    <a:pt x="4828032" y="54610"/>
                    <a:pt x="4828032" y="121920"/>
                  </a:cubicBezTo>
                  <a:lnTo>
                    <a:pt x="4828032" y="560832"/>
                  </a:lnTo>
                  <a:cubicBezTo>
                    <a:pt x="4828032" y="628142"/>
                    <a:pt x="4773422" y="682752"/>
                    <a:pt x="4706112" y="682752"/>
                  </a:cubicBezTo>
                  <a:lnTo>
                    <a:pt x="121920" y="682752"/>
                  </a:lnTo>
                  <a:cubicBezTo>
                    <a:pt x="54610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F9800">
                <a:alpha val="3922"/>
              </a:srgbClr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880592" y="8924544"/>
            <a:ext cx="3621024" cy="512064"/>
            <a:chOff x="0" y="0"/>
            <a:chExt cx="4828032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828032" cy="682752"/>
            </a:xfrm>
            <a:custGeom>
              <a:avLst/>
              <a:gdLst/>
              <a:ahLst/>
              <a:cxnLst/>
              <a:rect r="r" b="b" t="t" l="l"/>
              <a:pathLst>
                <a:path h="68275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87" r="0" b="-8778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8280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98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🏆 Win Here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WE WIN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99616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Sentinel AI vs. Everything Else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3108960"/>
            <a:ext cx="4937760" cy="822960"/>
            <a:chOff x="0" y="0"/>
            <a:chExt cx="65836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D3B6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3108960"/>
            <a:ext cx="4937760" cy="822960"/>
            <a:chOff x="0" y="0"/>
            <a:chExt cx="65836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5836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8F4F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69280" y="3108960"/>
            <a:ext cx="3657600" cy="822960"/>
            <a:chOff x="0" y="0"/>
            <a:chExt cx="48768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D3B6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669280" y="3108960"/>
            <a:ext cx="3657600" cy="822960"/>
            <a:chOff x="0" y="0"/>
            <a:chExt cx="48768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8F4F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Datadog / PagerDuty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0" y="3108960"/>
            <a:ext cx="3657600" cy="822960"/>
            <a:chOff x="0" y="0"/>
            <a:chExt cx="487680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D3B6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26880" y="3108960"/>
            <a:ext cx="3657600" cy="822960"/>
            <a:chOff x="0" y="0"/>
            <a:chExt cx="48768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8F4F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GitHub Actions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84480" y="3108960"/>
            <a:ext cx="3657600" cy="822960"/>
            <a:chOff x="0" y="0"/>
            <a:chExt cx="48768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D4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984480" y="3108960"/>
            <a:ext cx="3657600" cy="822960"/>
            <a:chOff x="0" y="0"/>
            <a:chExt cx="487680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7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87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162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Sentinel AI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1520" y="3931920"/>
            <a:ext cx="4937760" cy="877824"/>
            <a:chOff x="0" y="0"/>
            <a:chExt cx="6583680" cy="11704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31520" y="3931920"/>
            <a:ext cx="4937760" cy="877824"/>
            <a:chOff x="0" y="0"/>
            <a:chExt cx="6583680" cy="11704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5836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Predicts before deploy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669280" y="3931920"/>
            <a:ext cx="3657600" cy="877824"/>
            <a:chOff x="0" y="0"/>
            <a:chExt cx="4876800" cy="11704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669280" y="3931920"/>
            <a:ext cx="3657600" cy="877824"/>
            <a:chOff x="0" y="0"/>
            <a:chExt cx="4876800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No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0" y="3931920"/>
            <a:ext cx="3657600" cy="877824"/>
            <a:chOff x="0" y="0"/>
            <a:chExt cx="4876800" cy="1170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0" y="3931920"/>
            <a:ext cx="3657600" cy="877824"/>
            <a:chOff x="0" y="0"/>
            <a:chExt cx="4876800" cy="11704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No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984480" y="3931920"/>
            <a:ext cx="3657600" cy="877824"/>
            <a:chOff x="0" y="0"/>
            <a:chExt cx="4876800" cy="11704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0291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984480" y="3931920"/>
            <a:ext cx="3657600" cy="877824"/>
            <a:chOff x="0" y="0"/>
            <a:chExt cx="4876800" cy="11704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Yes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31520" y="4846320"/>
            <a:ext cx="4937760" cy="877824"/>
            <a:chOff x="0" y="0"/>
            <a:chExt cx="6583680" cy="11704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1520" y="4846320"/>
            <a:ext cx="4937760" cy="877824"/>
            <a:chOff x="0" y="0"/>
            <a:chExt cx="6583680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5836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Multi-source AI reasoning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669280" y="4846320"/>
            <a:ext cx="3657600" cy="877824"/>
            <a:chOff x="0" y="0"/>
            <a:chExt cx="4876800" cy="11704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669280" y="4846320"/>
            <a:ext cx="3657600" cy="877824"/>
            <a:chOff x="0" y="0"/>
            <a:chExt cx="4876800" cy="11704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No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26880" y="4846320"/>
            <a:ext cx="3657600" cy="877824"/>
            <a:chOff x="0" y="0"/>
            <a:chExt cx="4876800" cy="11704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326880" y="4846320"/>
            <a:ext cx="3657600" cy="877824"/>
            <a:chOff x="0" y="0"/>
            <a:chExt cx="4876800" cy="11704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No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984480" y="4846320"/>
            <a:ext cx="3657600" cy="877824"/>
            <a:chOff x="0" y="0"/>
            <a:chExt cx="4876800" cy="117043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0291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984480" y="4846320"/>
            <a:ext cx="3657600" cy="877824"/>
            <a:chOff x="0" y="0"/>
            <a:chExt cx="4876800" cy="117043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Yes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31520" y="5760720"/>
            <a:ext cx="4937760" cy="877824"/>
            <a:chOff x="0" y="0"/>
            <a:chExt cx="6583680" cy="117043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31520" y="5760720"/>
            <a:ext cx="4937760" cy="877824"/>
            <a:chOff x="0" y="0"/>
            <a:chExt cx="6583680" cy="117043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5836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Slack-native workflow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669280" y="5760720"/>
            <a:ext cx="3657600" cy="877824"/>
            <a:chOff x="0" y="0"/>
            <a:chExt cx="4876800" cy="11704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5669280" y="5760720"/>
            <a:ext cx="3657600" cy="877824"/>
            <a:chOff x="0" y="0"/>
            <a:chExt cx="4876800" cy="11704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  Partial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326880" y="5760720"/>
            <a:ext cx="3657600" cy="877824"/>
            <a:chOff x="0" y="0"/>
            <a:chExt cx="4876800" cy="117043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326880" y="5760720"/>
            <a:ext cx="3657600" cy="877824"/>
            <a:chOff x="0" y="0"/>
            <a:chExt cx="4876800" cy="11704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No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984480" y="5760720"/>
            <a:ext cx="3657600" cy="877824"/>
            <a:chOff x="0" y="0"/>
            <a:chExt cx="4876800" cy="117043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0291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984480" y="5760720"/>
            <a:ext cx="3657600" cy="877824"/>
            <a:chOff x="0" y="0"/>
            <a:chExt cx="4876800" cy="117043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Yes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31520" y="6675120"/>
            <a:ext cx="4937760" cy="877824"/>
            <a:chOff x="0" y="0"/>
            <a:chExt cx="6583680" cy="117043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31520" y="6675120"/>
            <a:ext cx="4937760" cy="877824"/>
            <a:chOff x="0" y="0"/>
            <a:chExt cx="6583680" cy="117043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5836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Historical incident memory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5669280" y="6675120"/>
            <a:ext cx="3657600" cy="877824"/>
            <a:chOff x="0" y="0"/>
            <a:chExt cx="4876800" cy="117043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5669280" y="6675120"/>
            <a:ext cx="3657600" cy="877824"/>
            <a:chOff x="0" y="0"/>
            <a:chExt cx="4876800" cy="117043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No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26880" y="6675120"/>
            <a:ext cx="3657600" cy="877824"/>
            <a:chOff x="0" y="0"/>
            <a:chExt cx="4876800" cy="117043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62D4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26880" y="6675120"/>
            <a:ext cx="3657600" cy="877824"/>
            <a:chOff x="0" y="0"/>
            <a:chExt cx="4876800" cy="117043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No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984480" y="6675120"/>
            <a:ext cx="3657600" cy="877824"/>
            <a:chOff x="0" y="0"/>
            <a:chExt cx="4876800" cy="117043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0291A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984480" y="6675120"/>
            <a:ext cx="3657600" cy="877824"/>
            <a:chOff x="0" y="0"/>
            <a:chExt cx="4876800" cy="117043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Yes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31520" y="7589520"/>
            <a:ext cx="4937760" cy="877824"/>
            <a:chOff x="0" y="0"/>
            <a:chExt cx="6583680" cy="117043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7589520"/>
            <a:ext cx="4937760" cy="877824"/>
            <a:chOff x="0" y="0"/>
            <a:chExt cx="6583680" cy="117043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5836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5836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 recommendations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669280" y="7589520"/>
            <a:ext cx="3657600" cy="877824"/>
            <a:chOff x="0" y="0"/>
            <a:chExt cx="4876800" cy="117043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669280" y="7589520"/>
            <a:ext cx="3657600" cy="877824"/>
            <a:chOff x="0" y="0"/>
            <a:chExt cx="4876800" cy="117043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No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326880" y="7589520"/>
            <a:ext cx="3657600" cy="877824"/>
            <a:chOff x="0" y="0"/>
            <a:chExt cx="4876800" cy="117043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326880" y="7589520"/>
            <a:ext cx="3657600" cy="877824"/>
            <a:chOff x="0" y="0"/>
            <a:chExt cx="4876800" cy="117043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  Partial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984480" y="7589520"/>
            <a:ext cx="3657600" cy="877824"/>
            <a:chOff x="0" y="0"/>
            <a:chExt cx="4876800" cy="11704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0291A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984480" y="7589520"/>
            <a:ext cx="3657600" cy="877824"/>
            <a:chOff x="0" y="0"/>
            <a:chExt cx="4876800" cy="117043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8768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Yes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14400" y="8869680"/>
            <a:ext cx="16459200" cy="914400"/>
            <a:chOff x="0" y="0"/>
            <a:chExt cx="21945600" cy="12192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21945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00D4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"Grammarly for software deployments — catches mistakes before they cause damage."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456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OPPORTUNITY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99616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Massive, Underserved Market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3145536"/>
            <a:ext cx="7680960" cy="2011680"/>
            <a:chOff x="0" y="0"/>
            <a:chExt cx="102412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241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9997440" y="0"/>
                  </a:lnTo>
                  <a:cubicBezTo>
                    <a:pt x="10132060" y="0"/>
                    <a:pt x="10241280" y="109220"/>
                    <a:pt x="10241280" y="243840"/>
                  </a:cubicBezTo>
                  <a:lnTo>
                    <a:pt x="10241280" y="2438400"/>
                  </a:lnTo>
                  <a:cubicBezTo>
                    <a:pt x="10241280" y="2573020"/>
                    <a:pt x="10132060" y="2682240"/>
                    <a:pt x="999744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200400"/>
            <a:ext cx="2194560" cy="1828800"/>
            <a:chOff x="0" y="0"/>
            <a:chExt cx="2926080" cy="243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9260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D6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$26B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00400" y="3328416"/>
            <a:ext cx="4937760" cy="1554480"/>
            <a:chOff x="0" y="0"/>
            <a:chExt cx="6583680" cy="2072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3" r="0" b="-1189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58368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DevOps market size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2027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1520" y="5376672"/>
            <a:ext cx="7680960" cy="2011680"/>
            <a:chOff x="0" y="0"/>
            <a:chExt cx="10241280" cy="2682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241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9997440" y="0"/>
                  </a:lnTo>
                  <a:cubicBezTo>
                    <a:pt x="10132060" y="0"/>
                    <a:pt x="10241280" y="109220"/>
                    <a:pt x="10241280" y="243840"/>
                  </a:cubicBezTo>
                  <a:lnTo>
                    <a:pt x="10241280" y="2438400"/>
                  </a:lnTo>
                  <a:cubicBezTo>
                    <a:pt x="10241280" y="2573020"/>
                    <a:pt x="10132060" y="2682240"/>
                    <a:pt x="999744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5431536"/>
            <a:ext cx="2194560" cy="1828800"/>
            <a:chOff x="0" y="0"/>
            <a:chExt cx="2926080" cy="2438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60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9260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D6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83%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00400" y="5559552"/>
            <a:ext cx="4937760" cy="1554480"/>
            <a:chOff x="0" y="0"/>
            <a:chExt cx="6583680" cy="207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3" r="0" b="-1189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58368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Enterprises using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CI/CD pipelines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1520" y="7607808"/>
            <a:ext cx="7680960" cy="2011680"/>
            <a:chOff x="0" y="0"/>
            <a:chExt cx="10241280" cy="268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241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9997440" y="0"/>
                  </a:lnTo>
                  <a:cubicBezTo>
                    <a:pt x="10132060" y="0"/>
                    <a:pt x="10241280" y="109220"/>
                    <a:pt x="10241280" y="243840"/>
                  </a:cubicBezTo>
                  <a:lnTo>
                    <a:pt x="10241280" y="2438400"/>
                  </a:lnTo>
                  <a:cubicBezTo>
                    <a:pt x="10241280" y="2573020"/>
                    <a:pt x="10132060" y="2682240"/>
                    <a:pt x="999744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7662672"/>
            <a:ext cx="2194560" cy="1828800"/>
            <a:chOff x="0" y="0"/>
            <a:chExt cx="2926080" cy="243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9260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D6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200+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200400" y="7790688"/>
            <a:ext cx="4937760" cy="1554480"/>
            <a:chOff x="0" y="0"/>
            <a:chExt cx="6583680" cy="2072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3" r="0" b="-1189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58368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 deployments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day at top tech firms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0" y="3145536"/>
            <a:ext cx="8412480" cy="6583680"/>
            <a:chOff x="0" y="0"/>
            <a:chExt cx="11216640" cy="8778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166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12166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972800" y="0"/>
                  </a:lnTo>
                  <a:cubicBezTo>
                    <a:pt x="11107420" y="0"/>
                    <a:pt x="11216640" y="109220"/>
                    <a:pt x="11216640" y="243840"/>
                  </a:cubicBezTo>
                  <a:lnTo>
                    <a:pt x="11216640" y="8534400"/>
                  </a:lnTo>
                  <a:cubicBezTo>
                    <a:pt x="11216640" y="8669020"/>
                    <a:pt x="11107420" y="8778240"/>
                    <a:pt x="10972800" y="8778240"/>
                  </a:cubicBezTo>
                  <a:lnTo>
                    <a:pt x="243840" y="8778240"/>
                  </a:lnTo>
                  <a:cubicBezTo>
                    <a:pt x="109220" y="8778240"/>
                    <a:pt x="0" y="8669020"/>
                    <a:pt x="0" y="853440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0" y="3328416"/>
            <a:ext cx="8046720" cy="768096"/>
            <a:chOff x="0" y="0"/>
            <a:chExt cx="1072896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072896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D6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Target Users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26880" y="4297680"/>
            <a:ext cx="8046720" cy="877824"/>
            <a:chOff x="0" y="0"/>
            <a:chExt cx="10728960" cy="1170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7289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🏢  Enterprises with 10+ engineers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6880" y="5303520"/>
            <a:ext cx="8046720" cy="877824"/>
            <a:chOff x="0" y="0"/>
            <a:chExt cx="10728960" cy="11704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07289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🚀  Startups scaling fast CI/CD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26880" y="6309360"/>
            <a:ext cx="8046720" cy="877824"/>
            <a:chOff x="0" y="0"/>
            <a:chExt cx="10728960" cy="11704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07289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🛒  E-commerce (zero tolerance outages)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6880" y="7315200"/>
            <a:ext cx="8046720" cy="877824"/>
            <a:chOff x="0" y="0"/>
            <a:chExt cx="10728960" cy="11704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07289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🏦  FinTech (regulatory compliance)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26880" y="8321040"/>
            <a:ext cx="8046720" cy="877824"/>
            <a:chOff x="0" y="0"/>
            <a:chExt cx="10728960" cy="11704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7289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☁️  Cloud-native SaaS platforms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98080" y="731520"/>
            <a:ext cx="3291840" cy="3291840"/>
            <a:chOff x="0" y="0"/>
            <a:chExt cx="4389120" cy="438912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4389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206240"/>
            <a:ext cx="16459200" cy="1828800"/>
            <a:chOff x="0" y="0"/>
            <a:chExt cx="219456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SENTINEL AI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6035040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i="true">
                  <a:solidFill>
                    <a:srgbClr val="00D4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Stop reacting. Start predicting.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43200" y="7498080"/>
            <a:ext cx="4023360" cy="2194560"/>
            <a:chOff x="0" y="0"/>
            <a:chExt cx="5364480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682240"/>
                  </a:lnTo>
                  <a:cubicBezTo>
                    <a:pt x="5364480" y="2816860"/>
                    <a:pt x="5255260" y="2926080"/>
                    <a:pt x="5120640" y="2926080"/>
                  </a:cubicBezTo>
                  <a:lnTo>
                    <a:pt x="243840" y="2926080"/>
                  </a:lnTo>
                  <a:cubicBezTo>
                    <a:pt x="109220" y="2926080"/>
                    <a:pt x="0" y="2816860"/>
                    <a:pt x="0" y="268224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43200" y="7589520"/>
            <a:ext cx="4023360" cy="1133856"/>
            <a:chOff x="0" y="0"/>
            <a:chExt cx="5364480" cy="15118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644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40" r="0" b="-1914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36448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D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&lt; 30s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43200" y="8686800"/>
            <a:ext cx="4023360" cy="768096"/>
            <a:chOff x="0" y="0"/>
            <a:chExt cx="5364480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36448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Analysis time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98080" y="7498080"/>
            <a:ext cx="4023360" cy="2194560"/>
            <a:chOff x="0" y="0"/>
            <a:chExt cx="536448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682240"/>
                  </a:lnTo>
                  <a:cubicBezTo>
                    <a:pt x="5364480" y="2816860"/>
                    <a:pt x="5255260" y="2926080"/>
                    <a:pt x="5120640" y="2926080"/>
                  </a:cubicBezTo>
                  <a:lnTo>
                    <a:pt x="243840" y="2926080"/>
                  </a:lnTo>
                  <a:cubicBezTo>
                    <a:pt x="109220" y="2926080"/>
                    <a:pt x="0" y="2816860"/>
                    <a:pt x="0" y="268224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98080" y="7589520"/>
            <a:ext cx="4023360" cy="1133856"/>
            <a:chOff x="0" y="0"/>
            <a:chExt cx="5364480" cy="1511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40" r="0" b="-191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36448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D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 agents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98080" y="8686800"/>
            <a:ext cx="4023360" cy="768096"/>
            <a:chOff x="0" y="0"/>
            <a:chExt cx="536448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36448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together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52960" y="7498080"/>
            <a:ext cx="4023360" cy="2194560"/>
            <a:chOff x="0" y="0"/>
            <a:chExt cx="5364480" cy="2926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120640" y="0"/>
                  </a:lnTo>
                  <a:cubicBezTo>
                    <a:pt x="5255260" y="0"/>
                    <a:pt x="5364480" y="109220"/>
                    <a:pt x="5364480" y="243840"/>
                  </a:cubicBezTo>
                  <a:lnTo>
                    <a:pt x="5364480" y="2682240"/>
                  </a:lnTo>
                  <a:cubicBezTo>
                    <a:pt x="5364480" y="2816860"/>
                    <a:pt x="5255260" y="2926080"/>
                    <a:pt x="5120640" y="2926080"/>
                  </a:cubicBezTo>
                  <a:lnTo>
                    <a:pt x="243840" y="2926080"/>
                  </a:lnTo>
                  <a:cubicBezTo>
                    <a:pt x="109220" y="2926080"/>
                    <a:pt x="0" y="2816860"/>
                    <a:pt x="0" y="268224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252960" y="7589520"/>
            <a:ext cx="4023360" cy="1133856"/>
            <a:chOff x="0" y="0"/>
            <a:chExt cx="5364480" cy="15118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644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40" r="0" b="-191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36448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D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 answer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52960" y="8686800"/>
            <a:ext cx="4023360" cy="768096"/>
            <a:chOff x="0" y="0"/>
            <a:chExt cx="5364480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36448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8BAA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 / No-go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DAHMKkL2d0U</dc:identifier>
  <dcterms:modified xsi:type="dcterms:W3CDTF">2011-08-01T06:04:30Z</dcterms:modified>
  <cp:revision>1</cp:revision>
  <dc:title>SentinelAI_Presentation.pptx</dc:title>
</cp:coreProperties>
</file>